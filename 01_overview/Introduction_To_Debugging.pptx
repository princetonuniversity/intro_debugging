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  <p:sldId id="269" r:id="rId5"/>
    <p:sldId id="268" r:id="rId6"/>
    <p:sldId id="270" r:id="rId7"/>
    <p:sldId id="260" r:id="rId8"/>
    <p:sldId id="264" r:id="rId9"/>
    <p:sldId id="275" r:id="rId10"/>
    <p:sldId id="271" r:id="rId11"/>
    <p:sldId id="280" r:id="rId12"/>
    <p:sldId id="273" r:id="rId13"/>
    <p:sldId id="272" r:id="rId14"/>
    <p:sldId id="274" r:id="rId15"/>
    <p:sldId id="279" r:id="rId16"/>
    <p:sldId id="263" r:id="rId17"/>
    <p:sldId id="265" r:id="rId18"/>
    <p:sldId id="266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7" autoAdjust="0"/>
    <p:restoredTop sz="94678" autoAdjust="0"/>
  </p:normalViewPr>
  <p:slideViewPr>
    <p:cSldViewPr snapToGrid="0">
      <p:cViewPr varScale="1">
        <p:scale>
          <a:sx n="90" d="100"/>
          <a:sy n="90" d="100"/>
        </p:scale>
        <p:origin x="1234" y="67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32529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C8AC2-76E2-427A-8089-09F7E78DC497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61F2D-7B76-4CF3-99A3-865C555D1C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09664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C8AC2-76E2-427A-8089-09F7E78DC497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61F2D-7B76-4CF3-99A3-865C555D1C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17091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C8AC2-76E2-427A-8089-09F7E78DC497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61F2D-7B76-4CF3-99A3-865C555D1C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33741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C8AC2-76E2-427A-8089-09F7E78DC497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61F2D-7B76-4CF3-99A3-865C555D1C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35575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C8AC2-76E2-427A-8089-09F7E78DC497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61F2D-7B76-4CF3-99A3-865C555D1C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75425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C8AC2-76E2-427A-8089-09F7E78DC497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61F2D-7B76-4CF3-99A3-865C555D1C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92247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C8AC2-76E2-427A-8089-09F7E78DC497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61F2D-7B76-4CF3-99A3-865C555D1C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67993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C8AC2-76E2-427A-8089-09F7E78DC497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61F2D-7B76-4CF3-99A3-865C555D1C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32402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C8AC2-76E2-427A-8089-09F7E78DC497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61F2D-7B76-4CF3-99A3-865C555D1C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1692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C8AC2-76E2-427A-8089-09F7E78DC497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61F2D-7B76-4CF3-99A3-865C555D1C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67401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2C8AC2-76E2-427A-8089-09F7E78DC497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161F2D-7B76-4CF3-99A3-865C555D1C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86883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ab50@princeton.edu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byjus.com/volume-formulas" TargetMode="External"/><Relationship Id="rId2" Type="http://schemas.openxmlformats.org/officeDocument/2006/relationships/hyperlink" Target="https://byjus.com/maths/area-of-shapes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byjus.com/surface-area-formulas/" TargetMode="Externa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48AA2C3-92D0-4664-AA14-C1B69002DD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406400"/>
            <a:ext cx="7772400" cy="1770743"/>
          </a:xfrm>
        </p:spPr>
        <p:txBody>
          <a:bodyPr>
            <a:normAutofit/>
          </a:bodyPr>
          <a:lstStyle/>
          <a:p>
            <a:r>
              <a:rPr lang="en-US" b="1" dirty="0"/>
              <a:t>Debugging and Profiling Code in Python</a:t>
            </a:r>
            <a:endParaRPr lang="en-US" sz="5400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5AC722EA-9B0C-40AF-9A23-ED2B9CE567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1267" y="3065402"/>
            <a:ext cx="7425265" cy="2310491"/>
          </a:xfrm>
        </p:spPr>
        <p:txBody>
          <a:bodyPr>
            <a:normAutofit/>
          </a:bodyPr>
          <a:lstStyle/>
          <a:p>
            <a:r>
              <a:rPr lang="en-US" dirty="0"/>
              <a:t>Abhishek Biswas</a:t>
            </a:r>
          </a:p>
          <a:p>
            <a:r>
              <a:rPr lang="en-US" sz="1800" dirty="0"/>
              <a:t>Sr. Research Software Engineer, Princeton University </a:t>
            </a:r>
          </a:p>
          <a:p>
            <a:r>
              <a:rPr lang="en-US" sz="1800" dirty="0">
                <a:hlinkClick r:id="rId2"/>
              </a:rPr>
              <a:t>ab50@princeton.edu</a:t>
            </a:r>
            <a:endParaRPr lang="en-US" sz="1800" dirty="0"/>
          </a:p>
          <a:p>
            <a:r>
              <a:rPr lang="en-US" dirty="0"/>
              <a:t>WINTER 2026: Workshops and Mini-Courses </a:t>
            </a:r>
          </a:p>
          <a:p>
            <a:r>
              <a:rPr lang="en-US" sz="1800" dirty="0"/>
              <a:t>Git Repo : https://github.com/PrincetonUniversity/intro_debugging</a:t>
            </a:r>
          </a:p>
        </p:txBody>
      </p:sp>
    </p:spTree>
    <p:extLst>
      <p:ext uri="{BB962C8B-B14F-4D97-AF65-F5344CB8AC3E}">
        <p14:creationId xmlns:p14="http://schemas.microsoft.com/office/powerpoint/2010/main" val="8291146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D356BF-BF46-4199-8C34-A201AA75B4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081119"/>
          </a:xfrm>
        </p:spPr>
        <p:txBody>
          <a:bodyPr/>
          <a:lstStyle/>
          <a:p>
            <a:r>
              <a:rPr lang="en-US" dirty="0"/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E0042B-C663-4441-B5F0-13D0797059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933" y="1407690"/>
            <a:ext cx="8114134" cy="5085184"/>
          </a:xfrm>
        </p:spPr>
        <p:txBody>
          <a:bodyPr>
            <a:normAutofit fontScale="92500"/>
          </a:bodyPr>
          <a:lstStyle/>
          <a:p>
            <a:pPr>
              <a:lnSpc>
                <a:spcPct val="150000"/>
              </a:lnSpc>
            </a:pPr>
            <a:r>
              <a:rPr lang="en-US" dirty="0"/>
              <a:t>Overview of code structuring and debugging </a:t>
            </a:r>
          </a:p>
          <a:p>
            <a:pPr>
              <a:lnSpc>
                <a:spcPct val="150000"/>
              </a:lnSpc>
            </a:pPr>
            <a:r>
              <a:rPr lang="en-US" dirty="0"/>
              <a:t>Overview of Integrated Development Environments (IDE)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Python – </a:t>
            </a:r>
            <a:r>
              <a:rPr lang="en-US" dirty="0" err="1"/>
              <a:t>VSCode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/>
              <a:t>Debugging typical software errors 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Program crashes, Incorrect output</a:t>
            </a:r>
          </a:p>
          <a:p>
            <a:pPr>
              <a:lnSpc>
                <a:spcPct val="150000"/>
              </a:lnSpc>
            </a:pPr>
            <a:r>
              <a:rPr lang="en-US" dirty="0"/>
              <a:t>Profiling 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Inefficient resource utilization (Time, Memory, CPU) </a:t>
            </a:r>
          </a:p>
        </p:txBody>
      </p:sp>
    </p:spTree>
    <p:extLst>
      <p:ext uri="{BB962C8B-B14F-4D97-AF65-F5344CB8AC3E}">
        <p14:creationId xmlns:p14="http://schemas.microsoft.com/office/powerpoint/2010/main" val="16288387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6434E9-B5CF-4D1B-9012-7A67D9EC6C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 is Important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2D76DC-BCE7-4CC1-B8B3-FE3EDC76CE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dirty="0"/>
              <a:t>Good code design will make finding bugs easier </a:t>
            </a:r>
          </a:p>
          <a:p>
            <a:pPr>
              <a:lnSpc>
                <a:spcPct val="150000"/>
              </a:lnSpc>
            </a:pPr>
            <a:r>
              <a:rPr lang="en-US" dirty="0"/>
              <a:t>Easier to track down bugs in modules 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Easier to write targeted testing code</a:t>
            </a:r>
          </a:p>
          <a:p>
            <a:pPr>
              <a:lnSpc>
                <a:spcPct val="150000"/>
              </a:lnSpc>
            </a:pPr>
            <a:r>
              <a:rPr lang="en-US" dirty="0"/>
              <a:t>Easier to replace and fix the bug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Less chances of introducing more bugs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93971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F2E928-CE04-8A4B-BDCA-FA6A9C1DF8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Print Statements and Comments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4A2A6E-B2C9-4740-9238-6AD0AA3F8A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</a:pPr>
            <a:r>
              <a:rPr lang="en-US" dirty="0"/>
              <a:t>Printing and logging messages are the most basic and useful tool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Can’t figure out how to setup a debugger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Parallel execution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Help isolate the portion of the code</a:t>
            </a:r>
          </a:p>
          <a:p>
            <a:pPr>
              <a:lnSpc>
                <a:spcPct val="150000"/>
              </a:lnSpc>
            </a:pPr>
            <a:r>
              <a:rPr lang="en-US" dirty="0"/>
              <a:t>Commenting out code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Comment out portions of code and see if it runs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Again, helps isolate the problem  </a:t>
            </a:r>
          </a:p>
        </p:txBody>
      </p:sp>
    </p:spTree>
    <p:extLst>
      <p:ext uri="{BB962C8B-B14F-4D97-AF65-F5344CB8AC3E}">
        <p14:creationId xmlns:p14="http://schemas.microsoft.com/office/powerpoint/2010/main" val="41186185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DD0CC8-CB5C-3B45-A858-58A60F3DE6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PDB – </a:t>
            </a:r>
            <a:r>
              <a:rPr lang="en-US" dirty="0" err="1"/>
              <a:t>commandline</a:t>
            </a:r>
            <a:r>
              <a:rPr lang="en-US" dirty="0"/>
              <a:t> debugging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FB39CA-BB17-564D-8D4D-45C7202678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Program crashes produce a stack trace with line numbers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Python provides a command like debugger too</a:t>
            </a:r>
          </a:p>
          <a:p>
            <a:pPr lvl="1"/>
            <a:r>
              <a:rPr lang="en-US" dirty="0" err="1"/>
              <a:t>pdb</a:t>
            </a:r>
            <a:r>
              <a:rPr lang="en-US" dirty="0"/>
              <a:t>++ is a more user-friendly version</a:t>
            </a:r>
          </a:p>
          <a:p>
            <a:pPr lvl="1"/>
            <a:endParaRPr lang="en-US" dirty="0"/>
          </a:p>
          <a:p>
            <a:r>
              <a:rPr lang="en-US" dirty="0"/>
              <a:t>  Let’s do the first demo!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7ABB931-E115-EF41-8A64-9B690656B091}"/>
              </a:ext>
            </a:extLst>
          </p:cNvPr>
          <p:cNvSpPr txBox="1"/>
          <p:nvPr/>
        </p:nvSpPr>
        <p:spPr>
          <a:xfrm>
            <a:off x="1066800" y="2830285"/>
            <a:ext cx="744855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Traceback (most recent call last): </a:t>
            </a:r>
          </a:p>
          <a:p>
            <a:r>
              <a:rPr lang="en-US" dirty="0">
                <a:latin typeface="Courier" pitchFamily="2" charset="0"/>
              </a:rPr>
              <a:t> File "</a:t>
            </a:r>
            <a:r>
              <a:rPr lang="en-US" dirty="0" err="1">
                <a:latin typeface="Courier" pitchFamily="2" charset="0"/>
              </a:rPr>
              <a:t>no_furniture.py</a:t>
            </a:r>
            <a:r>
              <a:rPr lang="en-US" dirty="0">
                <a:latin typeface="Courier" pitchFamily="2" charset="0"/>
              </a:rPr>
              <a:t>", line 16, in &lt;module&gt; </a:t>
            </a:r>
          </a:p>
          <a:p>
            <a:r>
              <a:rPr lang="en-US" dirty="0">
                <a:latin typeface="Courier" pitchFamily="2" charset="0"/>
              </a:rPr>
              <a:t>	for item in </a:t>
            </a:r>
            <a:r>
              <a:rPr lang="en-US" dirty="0" err="1">
                <a:latin typeface="Courier" pitchFamily="2" charset="0"/>
              </a:rPr>
              <a:t>items.sort</a:t>
            </a:r>
            <a:r>
              <a:rPr lang="en-US" dirty="0">
                <a:latin typeface="Courier" pitchFamily="2" charset="0"/>
              </a:rPr>
              <a:t>(): </a:t>
            </a:r>
          </a:p>
          <a:p>
            <a:r>
              <a:rPr lang="en-US" dirty="0" err="1">
                <a:latin typeface="Courier" pitchFamily="2" charset="0"/>
              </a:rPr>
              <a:t>TypeError</a:t>
            </a:r>
            <a:r>
              <a:rPr lang="en-US" dirty="0">
                <a:latin typeface="Courier" pitchFamily="2" charset="0"/>
              </a:rPr>
              <a:t>: '</a:t>
            </a:r>
            <a:r>
              <a:rPr lang="en-US" dirty="0" err="1">
                <a:latin typeface="Courier" pitchFamily="2" charset="0"/>
              </a:rPr>
              <a:t>NoneType</a:t>
            </a:r>
            <a:r>
              <a:rPr lang="en-US" dirty="0">
                <a:latin typeface="Courier" pitchFamily="2" charset="0"/>
              </a:rPr>
              <a:t>' object is not </a:t>
            </a:r>
            <a:r>
              <a:rPr lang="en-US" dirty="0" err="1">
                <a:latin typeface="Courier" pitchFamily="2" charset="0"/>
              </a:rPr>
              <a:t>iterable</a:t>
            </a:r>
            <a:r>
              <a:rPr lang="en-US" dirty="0">
                <a:latin typeface="Courier" pitchFamily="2" charset="0"/>
              </a:rPr>
              <a:t> </a:t>
            </a:r>
            <a:br>
              <a:rPr lang="en-US" dirty="0">
                <a:latin typeface="Courier" pitchFamily="2" charset="0"/>
              </a:rPr>
            </a:br>
            <a:endParaRPr lang="en-US" dirty="0">
              <a:latin typeface="Courier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23138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9BCD76-31EE-874C-81B9-A945EFE816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Breakpoints, Watches and Evaluation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823D54-C8A7-3843-94F4-D018703F73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Breakpoints allow you to halt the flow of execution </a:t>
            </a:r>
          </a:p>
          <a:p>
            <a:pPr lvl="1"/>
            <a:r>
              <a:rPr lang="en-US" dirty="0"/>
              <a:t>Stop a few lines before the error</a:t>
            </a:r>
          </a:p>
          <a:p>
            <a:pPr lvl="1"/>
            <a:r>
              <a:rPr lang="en-US" dirty="0"/>
              <a:t>The error in most cases happens before the line that triggers it</a:t>
            </a:r>
          </a:p>
          <a:p>
            <a:pPr marL="457200" lvl="1" indent="0">
              <a:buNone/>
            </a:pPr>
            <a:endParaRPr lang="en-US" dirty="0"/>
          </a:p>
          <a:p>
            <a:r>
              <a:rPr lang="en-US" dirty="0"/>
              <a:t>Watches allow you to look at the values of the variables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Evaluate allows you to insert and run new code to check things </a:t>
            </a:r>
          </a:p>
        </p:txBody>
      </p:sp>
    </p:spTree>
    <p:extLst>
      <p:ext uri="{BB962C8B-B14F-4D97-AF65-F5344CB8AC3E}">
        <p14:creationId xmlns:p14="http://schemas.microsoft.com/office/powerpoint/2010/main" val="39947642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5607B3-A023-4E2D-ACA0-F3A2EC0543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IDEs Help Design and Navigate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346229-6D85-41E2-BAD1-9DEE9F7753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r>
              <a:rPr lang="en-US" dirty="0"/>
              <a:t>Help you manage your files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Separate out modules 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Clearly save </a:t>
            </a:r>
            <a:r>
              <a:rPr lang="en-US" dirty="0" err="1"/>
              <a:t>src</a:t>
            </a:r>
            <a:r>
              <a:rPr lang="en-US" dirty="0"/>
              <a:t>, test and metadata files</a:t>
            </a:r>
          </a:p>
          <a:p>
            <a:pPr>
              <a:lnSpc>
                <a:spcPct val="150000"/>
              </a:lnSpc>
            </a:pPr>
            <a:r>
              <a:rPr lang="en-US" dirty="0"/>
              <a:t>They help you navigate through your code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Learn the shortcuts</a:t>
            </a:r>
          </a:p>
          <a:p>
            <a:pPr>
              <a:lnSpc>
                <a:spcPct val="150000"/>
              </a:lnSpc>
            </a:pPr>
            <a:r>
              <a:rPr lang="en-US" dirty="0"/>
              <a:t>Help you setup debugging environment </a:t>
            </a:r>
          </a:p>
          <a:p>
            <a:pPr>
              <a:lnSpc>
                <a:spcPct val="150000"/>
              </a:lnSpc>
            </a:pPr>
            <a:r>
              <a:rPr lang="en-US" dirty="0"/>
              <a:t>Help you setup build and release processes</a:t>
            </a:r>
          </a:p>
        </p:txBody>
      </p:sp>
    </p:spTree>
    <p:extLst>
      <p:ext uri="{BB962C8B-B14F-4D97-AF65-F5344CB8AC3E}">
        <p14:creationId xmlns:p14="http://schemas.microsoft.com/office/powerpoint/2010/main" val="32375516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487E68-2AB4-4828-8937-3390A9A6FD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2 : Fix The Tests!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CEC002-3008-4DC4-A0AF-E385D1339B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2728302"/>
            <a:ext cx="7886700" cy="2183668"/>
          </a:xfrm>
        </p:spPr>
        <p:txBody>
          <a:bodyPr/>
          <a:lstStyle/>
          <a:p>
            <a:r>
              <a:rPr lang="en-US" dirty="0"/>
              <a:t>Fix the failing test cases…</a:t>
            </a:r>
          </a:p>
          <a:p>
            <a:r>
              <a:rPr lang="en-US" dirty="0"/>
              <a:t>Useful links</a:t>
            </a:r>
          </a:p>
          <a:p>
            <a:pPr lvl="1"/>
            <a:r>
              <a:rPr lang="en-US" dirty="0">
                <a:hlinkClick r:id="rId2"/>
              </a:rPr>
              <a:t>https://byjus.com/maths/area-of-shapes</a:t>
            </a:r>
            <a:endParaRPr lang="en-US" dirty="0"/>
          </a:p>
          <a:p>
            <a:pPr lvl="1"/>
            <a:r>
              <a:rPr lang="en-US" dirty="0">
                <a:hlinkClick r:id="rId3"/>
              </a:rPr>
              <a:t>https://byjus.com/volume-formulas</a:t>
            </a:r>
            <a:endParaRPr lang="en-US" dirty="0"/>
          </a:p>
          <a:p>
            <a:pPr lvl="1"/>
            <a:r>
              <a:rPr lang="en-US" dirty="0">
                <a:hlinkClick r:id="rId4"/>
              </a:rPr>
              <a:t>https://byjus.com/surface-area-formulas</a:t>
            </a:r>
            <a:r>
              <a:rPr lang="en-US" dirty="0"/>
              <a:t>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48773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298627-CFD5-A84F-8C30-6F138E6AD5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Conditional Breakpoints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FD590D-9D84-284D-BE51-CE87B2A0EF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200000"/>
              </a:lnSpc>
            </a:pPr>
            <a:r>
              <a:rPr lang="en-US" dirty="0"/>
              <a:t>Sometimes breakpoints need to be conditional</a:t>
            </a:r>
          </a:p>
          <a:p>
            <a:pPr lvl="1">
              <a:lnSpc>
                <a:spcPct val="200000"/>
              </a:lnSpc>
            </a:pPr>
            <a:r>
              <a:rPr lang="en-US" dirty="0"/>
              <a:t>Useful when breaking at a certain iteration</a:t>
            </a:r>
          </a:p>
          <a:p>
            <a:pPr lvl="1">
              <a:lnSpc>
                <a:spcPct val="200000"/>
              </a:lnSpc>
            </a:pPr>
            <a:r>
              <a:rPr lang="en-US" dirty="0"/>
              <a:t>Breaking on a certain call of the function </a:t>
            </a:r>
          </a:p>
          <a:p>
            <a:pPr>
              <a:lnSpc>
                <a:spcPct val="200000"/>
              </a:lnSpc>
            </a:pPr>
            <a:r>
              <a:rPr lang="en-US" dirty="0"/>
              <a:t>Run the “</a:t>
            </a:r>
            <a:r>
              <a:rPr lang="en-US" dirty="0" err="1"/>
              <a:t>triangle_area_many.py</a:t>
            </a:r>
            <a:r>
              <a:rPr lang="en-US" dirty="0"/>
              <a:t>” example</a:t>
            </a:r>
          </a:p>
          <a:p>
            <a:pPr lvl="1">
              <a:lnSpc>
                <a:spcPct val="200000"/>
              </a:lnSpc>
            </a:pPr>
            <a:r>
              <a:rPr lang="en-US" dirty="0"/>
              <a:t>Figure out which of the 10000 triangles is failing!</a:t>
            </a:r>
          </a:p>
        </p:txBody>
      </p:sp>
    </p:spTree>
    <p:extLst>
      <p:ext uri="{BB962C8B-B14F-4D97-AF65-F5344CB8AC3E}">
        <p14:creationId xmlns:p14="http://schemas.microsoft.com/office/powerpoint/2010/main" val="36144693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C26E86-427F-DB4F-9B74-EC48AE4C30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2: Profiling Python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1DB76C-6788-BF4A-B321-438F8D2FA9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6132286" cy="435133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Create a new python project using  to “</a:t>
            </a:r>
            <a:r>
              <a:rPr lang="en-US" b="1" dirty="0" err="1"/>
              <a:t>python_profile</a:t>
            </a:r>
            <a:r>
              <a:rPr lang="en-US" dirty="0"/>
              <a:t>” directory</a:t>
            </a:r>
          </a:p>
          <a:p>
            <a:endParaRPr lang="en-US" dirty="0"/>
          </a:p>
          <a:p>
            <a:r>
              <a:rPr lang="en-US" dirty="0"/>
              <a:t>python -m </a:t>
            </a:r>
            <a:r>
              <a:rPr lang="en-US" dirty="0" err="1"/>
              <a:t>cProfile</a:t>
            </a:r>
            <a:r>
              <a:rPr lang="en-US" dirty="0"/>
              <a:t> -s </a:t>
            </a:r>
            <a:r>
              <a:rPr lang="en-US" b="1" dirty="0" err="1"/>
              <a:t>tottime</a:t>
            </a:r>
            <a:r>
              <a:rPr lang="en-US" dirty="0"/>
              <a:t> </a:t>
            </a:r>
            <a:r>
              <a:rPr lang="en-US" dirty="0" err="1"/>
              <a:t>search.py</a:t>
            </a:r>
            <a:endParaRPr lang="en-US" dirty="0"/>
          </a:p>
          <a:p>
            <a:pPr lvl="1"/>
            <a:r>
              <a:rPr lang="en-US" dirty="0" err="1"/>
              <a:t>simple_search</a:t>
            </a:r>
            <a:endParaRPr lang="en-US" dirty="0"/>
          </a:p>
          <a:p>
            <a:pPr lvl="1"/>
            <a:r>
              <a:rPr lang="en-US" dirty="0" err="1"/>
              <a:t>sort_search</a:t>
            </a:r>
            <a:r>
              <a:rPr lang="en-US" dirty="0"/>
              <a:t> </a:t>
            </a:r>
          </a:p>
          <a:p>
            <a:pPr lvl="1"/>
            <a:r>
              <a:rPr lang="en-US" dirty="0" err="1"/>
              <a:t>best_search</a:t>
            </a:r>
            <a:endParaRPr lang="en-US" dirty="0"/>
          </a:p>
          <a:p>
            <a:pPr lvl="1"/>
            <a:endParaRPr lang="en-US" dirty="0"/>
          </a:p>
          <a:p>
            <a:r>
              <a:rPr lang="en-US" dirty="0"/>
              <a:t>Why is </a:t>
            </a:r>
            <a:r>
              <a:rPr lang="en-US" dirty="0" err="1"/>
              <a:t>simple_search</a:t>
            </a:r>
            <a:r>
              <a:rPr lang="en-US" dirty="0"/>
              <a:t> faster?</a:t>
            </a:r>
          </a:p>
          <a:p>
            <a:pPr lvl="1"/>
            <a:r>
              <a:rPr lang="en-US" dirty="0"/>
              <a:t>Profile the code</a:t>
            </a:r>
          </a:p>
          <a:p>
            <a:pPr lvl="1"/>
            <a:r>
              <a:rPr lang="en-US" dirty="0"/>
              <a:t>What is taking so long? 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8308E2D-5469-1F41-98C2-D0EBC0AF15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7136" y="1325563"/>
            <a:ext cx="2165350" cy="5167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387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8F0CEB-5D93-7000-32C0-0B4D0EB058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Profiling with </a:t>
            </a:r>
            <a:r>
              <a:rPr lang="en-US" dirty="0" err="1"/>
              <a:t>line_profiler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81781A-10CC-6D01-A7A5-D66BF83A2A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Decorate the function to profile</a:t>
            </a:r>
          </a:p>
          <a:p>
            <a:pPr lvl="1"/>
            <a:r>
              <a:rPr lang="en-US" dirty="0"/>
              <a:t>Annotate with @profile</a:t>
            </a:r>
          </a:p>
          <a:p>
            <a:pPr marL="457200" lvl="1" indent="0">
              <a:buNone/>
            </a:pPr>
            <a:endParaRPr lang="en-US" dirty="0"/>
          </a:p>
          <a:p>
            <a:r>
              <a:rPr lang="en-US" dirty="0"/>
              <a:t>Run the profiler</a:t>
            </a:r>
          </a:p>
          <a:p>
            <a:pPr lvl="1"/>
            <a:r>
              <a:rPr lang="en-US" dirty="0" err="1"/>
              <a:t>kernprof</a:t>
            </a:r>
            <a:r>
              <a:rPr lang="en-US" dirty="0"/>
              <a:t> -l sort.py </a:t>
            </a:r>
            <a:r>
              <a:rPr lang="en-US" dirty="0" err="1"/>
              <a:t>snail_sort</a:t>
            </a: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r>
              <a:rPr lang="en-US" dirty="0"/>
              <a:t>Inspect the profile</a:t>
            </a:r>
          </a:p>
          <a:p>
            <a:pPr lvl="1"/>
            <a:r>
              <a:rPr lang="en-US" dirty="0"/>
              <a:t>python -m </a:t>
            </a:r>
            <a:r>
              <a:rPr lang="en-US" dirty="0" err="1"/>
              <a:t>line_profiler</a:t>
            </a:r>
            <a:r>
              <a:rPr lang="en-US" dirty="0"/>
              <a:t> -</a:t>
            </a:r>
            <a:r>
              <a:rPr lang="en-US" dirty="0" err="1"/>
              <a:t>rmt</a:t>
            </a:r>
            <a:r>
              <a:rPr lang="en-US" dirty="0"/>
              <a:t> </a:t>
            </a:r>
            <a:r>
              <a:rPr lang="en-US" dirty="0" err="1"/>
              <a:t>sort.py.lprof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53086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6F91022-F868-2E44-BEC5-8C504E29AB5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Did anyone run the tests for search?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9BD514F3-C5AD-8940-8EDC-336DA922C49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Check correctness before profiling!</a:t>
            </a:r>
          </a:p>
        </p:txBody>
      </p:sp>
    </p:spTree>
    <p:extLst>
      <p:ext uri="{BB962C8B-B14F-4D97-AF65-F5344CB8AC3E}">
        <p14:creationId xmlns:p14="http://schemas.microsoft.com/office/powerpoint/2010/main" val="6089974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C9D7F1-B9E0-C04B-8DB1-DF4836F77E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Generating Growth Curves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2425AA-7C7E-4243-AC1F-6889559A72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Profiling is used to generate growth curves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Let’s look at 3 sorting algorithms</a:t>
            </a:r>
          </a:p>
          <a:p>
            <a:pPr lvl="1"/>
            <a:r>
              <a:rPr lang="en-US" dirty="0"/>
              <a:t>python </a:t>
            </a:r>
            <a:r>
              <a:rPr lang="en-US" dirty="0" err="1"/>
              <a:t>sort.py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6B4BD57-5EA9-4544-8923-6A695547EF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4458" y="2340635"/>
            <a:ext cx="2920141" cy="2525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44964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D84DEE-AABE-1A40-BDA3-63074BA9A2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Memory Profiling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67BF66-576A-3E45-8486-D41374EF01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Memory profiling show the instructions that significantly increase the memory usage</a:t>
            </a:r>
          </a:p>
          <a:p>
            <a:endParaRPr lang="en-US" dirty="0"/>
          </a:p>
          <a:p>
            <a:r>
              <a:rPr lang="en-US" dirty="0" err="1"/>
              <a:t>memory_profiler</a:t>
            </a:r>
            <a:r>
              <a:rPr lang="en-US" dirty="0"/>
              <a:t> module allows users to decorate functions </a:t>
            </a:r>
          </a:p>
          <a:p>
            <a:endParaRPr lang="en-US" dirty="0"/>
          </a:p>
          <a:p>
            <a:r>
              <a:rPr lang="en-US" dirty="0"/>
              <a:t>Shows total memory usage and lines that add to memory footprint</a:t>
            </a:r>
          </a:p>
          <a:p>
            <a:pPr lvl="1"/>
            <a:r>
              <a:rPr lang="en-US" dirty="0"/>
              <a:t>python </a:t>
            </a:r>
            <a:r>
              <a:rPr lang="en-US" dirty="0" err="1"/>
              <a:t>mem_profile.py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7821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36DB535-B2B8-DD49-916C-2B38FCB0595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Have a great day!</a:t>
            </a:r>
          </a:p>
        </p:txBody>
      </p:sp>
    </p:spTree>
    <p:extLst>
      <p:ext uri="{BB962C8B-B14F-4D97-AF65-F5344CB8AC3E}">
        <p14:creationId xmlns:p14="http://schemas.microsoft.com/office/powerpoint/2010/main" val="31820972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1EB113-6772-47FD-B086-3D873CE864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Handling C++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D54DE9-CBB0-4FEC-AB4C-2C31E7FAC6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r>
              <a:rPr lang="en-US" dirty="0"/>
              <a:t>C++ is somewhat different because it is compiled </a:t>
            </a:r>
          </a:p>
          <a:p>
            <a:pPr>
              <a:lnSpc>
                <a:spcPct val="150000"/>
              </a:lnSpc>
            </a:pPr>
            <a:r>
              <a:rPr lang="en-US" dirty="0"/>
              <a:t>Some errors are found much earlier </a:t>
            </a:r>
          </a:p>
          <a:p>
            <a:pPr>
              <a:lnSpc>
                <a:spcPct val="150000"/>
              </a:lnSpc>
            </a:pPr>
            <a:r>
              <a:rPr lang="en-US" dirty="0"/>
              <a:t>The build process needs to be setup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Compiler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Compiler options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Debug/Release builds</a:t>
            </a:r>
          </a:p>
          <a:p>
            <a:pPr>
              <a:lnSpc>
                <a:spcPct val="150000"/>
              </a:lnSpc>
            </a:pPr>
            <a:r>
              <a:rPr lang="en-US" dirty="0"/>
              <a:t>Errors messages can be less obvious </a:t>
            </a:r>
          </a:p>
        </p:txBody>
      </p:sp>
    </p:spTree>
    <p:extLst>
      <p:ext uri="{BB962C8B-B14F-4D97-AF65-F5344CB8AC3E}">
        <p14:creationId xmlns:p14="http://schemas.microsoft.com/office/powerpoint/2010/main" val="2379255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2BE167-F6C9-4FD8-AE90-A43FAAA42A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4 : C++ Setup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93E6B7-65B4-4005-895B-4CD9592109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1015" y="1825625"/>
            <a:ext cx="8745415" cy="435133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Log onto Adroit </a:t>
            </a:r>
          </a:p>
          <a:p>
            <a:pPr lvl="1">
              <a:lnSpc>
                <a:spcPct val="150000"/>
              </a:lnSpc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ssh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-X adroit.princeton.edu</a:t>
            </a:r>
          </a:p>
          <a:p>
            <a:pPr>
              <a:lnSpc>
                <a:spcPct val="150000"/>
              </a:lnSpc>
            </a:pPr>
            <a:r>
              <a:rPr lang="en-US" dirty="0"/>
              <a:t>Download the C++ code</a:t>
            </a:r>
          </a:p>
          <a:p>
            <a:pPr lvl="1">
              <a:lnSpc>
                <a:spcPct val="150000"/>
              </a:lnSpc>
            </a:pPr>
            <a:r>
              <a:rPr lang="pt-B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curl -L -o cpp_debug.zip https://tinyurl.com/y3k73w6y</a:t>
            </a:r>
            <a:endParaRPr lang="en-US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>
              <a:lnSpc>
                <a:spcPct val="150000"/>
              </a:lnSpc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unzip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cpp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_</a:t>
            </a: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debug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.zip 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cd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cpp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_</a:t>
            </a: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debug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04243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2DA531-92ED-4623-A4B8-90CE8F7568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4 : C++ Compile and Run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BF4B0F-0AD3-470A-B163-9EDCD95D5A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</a:pPr>
            <a:r>
              <a:rPr lang="en-US" dirty="0"/>
              <a:t>Compile the code</a:t>
            </a:r>
          </a:p>
          <a:p>
            <a:pPr lvl="1">
              <a:lnSpc>
                <a:spcPct val="150000"/>
              </a:lnSpc>
            </a:pP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g++ -g -O0 -o serial_cpp serial.cpp</a:t>
            </a:r>
          </a:p>
          <a:p>
            <a:pPr>
              <a:lnSpc>
                <a:spcPct val="150000"/>
              </a:lnSpc>
            </a:pPr>
            <a:r>
              <a:rPr lang="pt-BR" dirty="0"/>
              <a:t>Request a task node on Adroit</a:t>
            </a:r>
          </a:p>
          <a:p>
            <a:pPr lvl="1">
              <a:lnSpc>
                <a:spcPct val="150000"/>
              </a:lnSpc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salloc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--nodes=1 --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ntasks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=1 --time=05:00 --x11</a:t>
            </a:r>
          </a:p>
          <a:p>
            <a:pPr>
              <a:lnSpc>
                <a:spcPct val="150000"/>
              </a:lnSpc>
            </a:pPr>
            <a:r>
              <a:rPr lang="en-US" dirty="0"/>
              <a:t>Load the Arm DDT debugger 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module load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ddt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/20.0.1</a:t>
            </a:r>
          </a:p>
          <a:p>
            <a:pPr lvl="1">
              <a:lnSpc>
                <a:spcPct val="150000"/>
              </a:lnSpc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ddt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61436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5325</TotalTime>
  <Words>741</Words>
  <Application>Microsoft Office PowerPoint</Application>
  <PresentationFormat>On-screen Show (4:3)</PresentationFormat>
  <Paragraphs>134</Paragraphs>
  <Slides>18</Slides>
  <Notes>0</Notes>
  <HiddenSlides>3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Calibri</vt:lpstr>
      <vt:lpstr>Calibri Light</vt:lpstr>
      <vt:lpstr>Courier</vt:lpstr>
      <vt:lpstr>Courier New</vt:lpstr>
      <vt:lpstr>Office Theme</vt:lpstr>
      <vt:lpstr>Debugging and Profiling Code in Python</vt:lpstr>
      <vt:lpstr>Objectives</vt:lpstr>
      <vt:lpstr>Design is Important </vt:lpstr>
      <vt:lpstr>Print Statements and Comments</vt:lpstr>
      <vt:lpstr>PDB – commandline debugging </vt:lpstr>
      <vt:lpstr>Breakpoints, Watches and Evaluation </vt:lpstr>
      <vt:lpstr>IDEs Help Design and Navigate</vt:lpstr>
      <vt:lpstr>Exercise 2 : Fix The Tests!</vt:lpstr>
      <vt:lpstr>Conditional Breakpoints</vt:lpstr>
      <vt:lpstr>Exercise 2: Profiling Python Code</vt:lpstr>
      <vt:lpstr>Profiling with line_profiler</vt:lpstr>
      <vt:lpstr>Did anyone run the tests for search?</vt:lpstr>
      <vt:lpstr>Generating Growth Curves</vt:lpstr>
      <vt:lpstr>Python Memory Profiling</vt:lpstr>
      <vt:lpstr>Have a great day!</vt:lpstr>
      <vt:lpstr>Handling C++</vt:lpstr>
      <vt:lpstr>Exercise 4 : C++ Setup</vt:lpstr>
      <vt:lpstr>Exercise 4 : C++ Compile and Run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Debugging (Python, R and C++)</dc:title>
  <dc:creator>Abhishek Biswas</dc:creator>
  <cp:lastModifiedBy>Abhishek Biswas</cp:lastModifiedBy>
  <cp:revision>99</cp:revision>
  <dcterms:created xsi:type="dcterms:W3CDTF">2020-09-26T17:36:28Z</dcterms:created>
  <dcterms:modified xsi:type="dcterms:W3CDTF">2026-01-15T17:05:40Z</dcterms:modified>
</cp:coreProperties>
</file>